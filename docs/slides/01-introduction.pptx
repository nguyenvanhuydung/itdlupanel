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ITDLUPanel - Bảng Điều Khiển Quản Lý Máy Chủ Linux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FFFFFF"/>
                </a:solidFill>
              </a:defRPr>
            </a:pPr>
            <a:r>
              <a:t>**Đại học Đà Lạt | © 2026**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ITDLUPanel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600"/>
              </a:spcBef>
              <a:spcAft>
                <a:spcPts val="800"/>
              </a:spcAft>
              <a:defRPr sz="2000" b="1">
                <a:solidFill>
                  <a:srgbClr val="1565C0"/>
                </a:solidFill>
              </a:defRPr>
            </a:pPr>
            <a:r>
              <a:t>Slide 1: Giới Thiệu ITDLUPanel</a:t>
            </a:r>
          </a:p>
          <a:p>
            <a:pPr>
              <a:spcBef>
                <a:spcPts val="1600"/>
              </a:spcBef>
              <a:spcAft>
                <a:spcPts val="800"/>
              </a:spcAft>
              <a:defRPr sz="2000" b="1">
                <a:solidFill>
                  <a:srgbClr val="1565C0"/>
                </a:solidFill>
              </a:defRPr>
            </a:pPr>
            <a:r>
              <a:t>Bảng Điều Khiển Quản Lý Máy Chủ Linux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Single Binary • Zero Dependencies • Production-Ready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Được phát triển bởi Đại học Đà Lạt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![Logo](https://via.placeholder.com/200x80/1565C0/FFFFFF?text=ITDLUPanel)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ITDLUPanel Là Gì?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600"/>
              </a:spcBef>
              <a:spcAft>
                <a:spcPts val="800"/>
              </a:spcAft>
              <a:defRPr sz="2000" b="1">
                <a:solidFill>
                  <a:srgbClr val="1565C0"/>
                </a:solidFill>
              </a:defRPr>
            </a:pPr>
            <a:r>
              <a:t>Slide 2: Tổng Quan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ITDLUPanel (IT Đại học Đà Lạt Panel) là một bảng điều khiển quản lý máy chủ Linux hiện đại, đóng gói trong một file nhị phân duy nhất (~60MB) với không phụ thuộc runtime bên ngoài.</a:t>
            </a:r>
          </a:p>
          <a:p>
            <a:pPr>
              <a:spcBef>
                <a:spcPts val="1200"/>
              </a:spcBef>
              <a:spcAft>
                <a:spcPts val="400"/>
              </a:spcAft>
              <a:defRPr sz="1600" b="1">
                <a:solidFill>
                  <a:srgbClr val="0288D1"/>
                </a:solidFill>
              </a:defRPr>
            </a:pPr>
            <a:r>
              <a:t>Điểm Nổi Bật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• **Single Binary**: Toàn bộ stack trong một file Go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• **Zero Dependencies**: Không cần cài đặt Node.js, Python hay database riêng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• **Cross-Platform**: Biên dịch không cần CGO, chạy trên mọi Linux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• **Production-Ready**: Đã được kiểm chứng tại môi trường thực tế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Vì Sao Chọn ITDLUPanel?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600"/>
              </a:spcBef>
              <a:spcAft>
                <a:spcPts val="800"/>
              </a:spcAft>
              <a:defRPr sz="2000" b="1">
                <a:solidFill>
                  <a:srgbClr val="1565C0"/>
                </a:solidFill>
              </a:defRPr>
            </a:pPr>
            <a:r>
              <a:t>Slide 3: Tại Sao Chọn ITDLUPanel?</a:t>
            </a:r>
          </a:p>
          <a:p>
            <a:pPr>
              <a:spcBef>
                <a:spcPts val="1200"/>
              </a:spcBef>
              <a:spcAft>
                <a:spcPts val="400"/>
              </a:spcAft>
              <a:defRPr sz="1600" b="1">
                <a:solidFill>
                  <a:srgbClr val="0288D1"/>
                </a:solidFill>
              </a:defRPr>
            </a:pPr>
            <a:r>
              <a:t>So Sánh Với Các Giải Pháp Khác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| Tiêu Chí | ITDLUPanel | cPanel | DirectAdmin |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|----------|------------|--------|------------|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| Chi phí | Miễn phí | Trả phí | Trả phí |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| Dependencies | Không | Cần nhiều | Cần nhiều |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| Giao diện | Hiện đại (React) | Cũ | Trung bình |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| Docker tích hợp | ✅ | ❌ | ❌ |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| WebSocket Terminal | ✅ | ❌ | ❌ |</a:t>
            </a:r>
          </a:p>
          <a:p>
            <a:pPr>
              <a:spcBef>
                <a:spcPts val="1200"/>
              </a:spcBef>
              <a:spcAft>
                <a:spcPts val="400"/>
              </a:spcAft>
              <a:defRPr sz="1600" b="1">
                <a:solidFill>
                  <a:srgbClr val="0288D1"/>
                </a:solidFill>
              </a:defRPr>
            </a:pPr>
            <a:r>
              <a:t>Phù Hợp Cho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• **Trường học &amp; đại học**: Quản lý server học tập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• **Doanh nghiệp nhỏ**: Host website nội bộ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• **DevOps**: Môi trường development/staging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Công Nghệ Sử Dụng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600"/>
              </a:spcBef>
              <a:spcAft>
                <a:spcPts val="800"/>
              </a:spcAft>
              <a:defRPr sz="2000" b="1">
                <a:solidFill>
                  <a:srgbClr val="1565C0"/>
                </a:solidFill>
              </a:defRPr>
            </a:pPr>
            <a:r>
              <a:t>Slide 4: Technology Stack</a:t>
            </a:r>
          </a:p>
          <a:p>
            <a:pPr>
              <a:spcBef>
                <a:spcPts val="1600"/>
              </a:spcBef>
              <a:spcAft>
                <a:spcPts val="800"/>
              </a:spcAft>
              <a:defRPr sz="2000" b="1">
                <a:solidFill>
                  <a:srgbClr val="1565C0"/>
                </a:solidFill>
              </a:defRPr>
            </a:pPr>
            <a:r>
              <a:t>Backend - Go 1.25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┌─────────────────────────────────────────────────────┐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│  Gin Framework        │  JWT Auth        │  SQLite │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│  WebSocket           │  TOTP 2FA        │  gopsutil│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└─────────────────────────────────────────────────────┘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| Component | Technology | Version |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|-----------|------------|---------|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| Language | Go | 1.25 |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| HTTP Framework | Gin | 1.12 |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| Database | SQLite | modernc.org/sqlite 1.47 |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| Auth | JWT | golang-jwt/jwt 5.3.1 |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| Terminal | xterm.js PTY | creack/pty 1.1.24 |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| Storage | MinIO Go | 7.0.100 |</a:t>
            </a:r>
          </a:p>
          <a:p>
            <a:pPr>
              <a:spcBef>
                <a:spcPts val="1600"/>
              </a:spcBef>
              <a:spcAft>
                <a:spcPts val="800"/>
              </a:spcAft>
              <a:defRPr sz="2000" b="1">
                <a:solidFill>
                  <a:srgbClr val="1565C0"/>
                </a:solidFill>
              </a:defRPr>
            </a:pPr>
            <a:r>
              <a:t>Frontend - React 19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┌─────────────────────────────────────────────────────┐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│  React 19            │  Ant Design 6.3    │  Vite  │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│  TypeScript 5.9      │  Tailwind CSS 4    │  i18n  │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└─────────────────────────────────────────────────────┘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| Component | Technology | Version |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|-----------|------------|---------|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| Framework | React | 19.2.4 |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| UI Library | Ant Design | 6.3.3 |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| Build Tool | Vite | 8.0.1 |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| State | Zustand | 5.0.12 |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| Charts | Recharts | 3.8.0 |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| Terminal | xterm.js | 6.0.0 |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Kiến Trúc Tổng Quan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600"/>
              </a:spcBef>
              <a:spcAft>
                <a:spcPts val="800"/>
              </a:spcAft>
              <a:defRPr sz="2000" b="1">
                <a:solidFill>
                  <a:srgbClr val="1565C0"/>
                </a:solidFill>
              </a:defRPr>
            </a:pPr>
            <a:r>
              <a:t>Slide 5: Kiến Trúc Hệ Thống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┌──────────────────────────────────────────────────────────────┐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│                    Browser (React 19 SPA)                     │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│         Ant Design 6 • xterm.js • Monaco Editor              │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│         Recharts • Zustand • React Query • i18n              │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└────────────────┬──────────────────────┬──────────────────────┘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│  REST API (~160)      │  WebSocket (2)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│  HTTPS / JWT          │  PTY Terminal + Monitor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▼                       ▼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┌──────────────────────────────────────────────────────────────┐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│              Single Go Binary (go:embed)                     │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│  ┌─────────┐  ┌──────────────┐  ┌──────────────────────┐   │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│  │   Gin   │→ │  24 Handlers │→ │  33+ Services         │   │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│  │  Router │  │  (REST API)  │  │  14 Installers        │   │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│  └─────────┘  └──────────────┘  │  4 Vhost Generators  │   │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│  ┌─────────┐  ┌──────────────┐  └──────────┬───────────┘   │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│  │   WS    │→ │  Terminal    │              │               │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│  │   Hub   │  │  Monitor     │              ▼               │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│  └─────────┘  └──────────────┘  ┌──────────────────────┐   │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│  ┌─────────────────────────┐    │  SQLite (25 tables)  │   │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│  │  Middleware Stack (11)   │    └──────────────────────┘   │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│  └─────────────────────────┘                                │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└──────────────────────────┬───────────────────────────────────┘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▼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┌──────────────────────────────────────────────────────────────┐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│                   Linux Host (Ubuntu/Debian)                  │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│   Nginx/Apache/OLS • PHP-FPM • MySQL/MariaDB • Redis       │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│   Docker • Fail2ban • PureFTPd • Certbot                     │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└──────────────────────────────────────────────────────────────┘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Tính Năng Chính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600"/>
              </a:spcBef>
              <a:spcAft>
                <a:spcPts val="800"/>
              </a:spcAft>
              <a:defRPr sz="2000" b="1">
                <a:solidFill>
                  <a:srgbClr val="1565C0"/>
                </a:solidFill>
              </a:defRPr>
            </a:pPr>
            <a:r>
              <a:t>Slide 6: Các Module Chính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| Module | Mô Tả |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|--------|-------|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| 📊 Dashboard | Theo dõi CPU, RAM, Disk, Network realtime |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| 🌐 Websites | Quản lý site, domain, PHP version, Nginx/Apache |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| 🗄️ Databases | MySQL/MariaDB - create, backup, restore |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| 📁 File Manager | Trình duyệt file với Monaco Editor |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| 💻 Terminal | WebSocket terminal với multi-tab |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| 🔒 Security | Firewall, IP blocking, Fail2ban |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| 🐳 Docker | 38+ one-click app templates |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| ⏰ Cron Jobs | 30 templates, schedule builder |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| 📝 Logs | Panel, SSH, website, audit logs |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| 🔐 SSL | Let's Encrypt auto-issue, auto-renewal |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| 💾 Backups | FTP, S3, Google Drive, OneDrive |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| 👥 Users | RBAC - Admin/Operator/Viewer + 2FA |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Dashboard Thông Minh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600"/>
              </a:spcBef>
              <a:spcAft>
                <a:spcPts val="800"/>
              </a:spcAft>
              <a:defRPr sz="2000" b="1">
                <a:solidFill>
                  <a:srgbClr val="1565C0"/>
                </a:solidFill>
              </a:defRPr>
            </a:pPr>
            <a:r>
              <a:t>Slide 7: Dashboard - Giám Sát Realtime</a:t>
            </a:r>
          </a:p>
          <a:p>
            <a:pPr>
              <a:spcBef>
                <a:spcPts val="1200"/>
              </a:spcBef>
              <a:spcAft>
                <a:spcPts val="400"/>
              </a:spcAft>
              <a:defRPr sz="1600" b="1">
                <a:solidFill>
                  <a:srgbClr val="0288D1"/>
                </a:solidFill>
              </a:defRPr>
            </a:pPr>
            <a:r>
              <a:t>Trực Quan Hóa Dữ Liệu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┌────────────────────────────────────────────────────────┐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│  CPU Usage          RAM Usage         Disk Usage       │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│  ████████░░ 78%    ██████░░░░ 62%   ███░░░░░░ 31%     │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│  [==========]      [==========]       [==========]    │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└────────────────────────────────────────────────────────┘</a:t>
            </a:r>
          </a:p>
          <a:p>
            <a:pPr>
              <a:spcBef>
                <a:spcPts val="1200"/>
              </a:spcBef>
              <a:spcAft>
                <a:spcPts val="400"/>
              </a:spcAft>
              <a:defRPr sz="1600" b="1">
                <a:solidFill>
                  <a:srgbClr val="0288D1"/>
                </a:solidFill>
              </a:defRPr>
            </a:pPr>
            <a:r>
              <a:t>Tính Năng Dashboard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• ✅ **Realtime Monitoring**: Cập nhật mỗi 2 giây qua WebSocket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• ✅ **Interactive Charts**: Biểu đồ tương tác với Recharts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• ✅ **Network Stats**: Bandwidth in/out theo thời gian thực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• ✅ **Process List**: Top processes đang chạy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• ✅ **Service Status**: Health check các dịch vụ</a:t>
            </a:r>
          </a:p>
          <a:p>
            <a:pPr>
              <a:spcBef>
                <a:spcPts val="1200"/>
              </a:spcBef>
              <a:spcAft>
                <a:spcPts val="400"/>
              </a:spcAft>
              <a:defRPr sz="1600" b="1">
                <a:solidFill>
                  <a:srgbClr val="0288D1"/>
                </a:solidFill>
              </a:defRPr>
            </a:pPr>
            <a:r>
              <a:t>Các Chỉ Số Theo Dõi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| Metric | Update Interval | Retention |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|--------|------------------|-----------|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| CPU | 2s | 1 hour |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| Memory | 2s | 1 hour |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| Disk I/O | 5s | 1 hour |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| Network | 2s | 1 hour |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Quản Lý Website Chuyên Nghiệp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600"/>
              </a:spcBef>
              <a:spcAft>
                <a:spcPts val="800"/>
              </a:spcAft>
              <a:defRPr sz="2000" b="1">
                <a:solidFill>
                  <a:srgbClr val="1565C0"/>
                </a:solidFill>
              </a:defRPr>
            </a:pPr>
            <a:r>
              <a:t>Slide 8: Quản Lý Websites</a:t>
            </a:r>
          </a:p>
          <a:p>
            <a:pPr>
              <a:spcBef>
                <a:spcPts val="1200"/>
              </a:spcBef>
              <a:spcAft>
                <a:spcPts val="400"/>
              </a:spcAft>
              <a:defRPr sz="1600" b="1">
                <a:solidFill>
                  <a:srgbClr val="0288D1"/>
                </a:solidFill>
              </a:defRPr>
            </a:pPr>
            <a:r>
              <a:t>Hỗ Trợ Đa Web Server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┌─────────────────────────────────────────────────────────┐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│  Web Server Support                                     │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│  ┌─────────┐  ┌─────────┐  ┌─────────┐                 │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│  │  Nginx  │  │ Apache  │  │   OLS   │                 │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│  │   ✅    │  │   ✅    │  │   ✅    │                 │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│  └─────────┘  └─────────┘  └─────────┘                 │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│                                                         │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│  PHP Versions: 7.4 • 8.0 • 8.1 • 8.2 • 8.3 • 8.4     │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└─────────────────────────────────────────────────────────┘</a:t>
            </a:r>
          </a:p>
          <a:p>
            <a:pPr>
              <a:spcBef>
                <a:spcPts val="1200"/>
              </a:spcBef>
              <a:spcAft>
                <a:spcPts val="400"/>
              </a:spcAft>
              <a:defRPr sz="1600" b="1">
                <a:solidFill>
                  <a:srgbClr val="0288D1"/>
                </a:solidFill>
              </a:defRPr>
            </a:pPr>
            <a:r>
              <a:t>Tính Năng Nổi Bật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• 🔄 **PHP Version Switching**: Chuyển đổi PHP version dễ dàng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• 📝 **Config Editor**: Chỉnh sửa Nginx/Apache config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• 🌐 **Domain Aliases**: Quản lý multiple domains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• 📊 **Access Logs**: Xem logs theo thời gian thực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• 🔒 **SSL Integration**: Tích hợp Let's Encrypt</a:t>
            </a:r>
          </a:p>
          <a:p>
            <a:pPr>
              <a:spcBef>
                <a:spcPts val="1200"/>
              </a:spcBef>
              <a:spcAft>
                <a:spcPts val="400"/>
              </a:spcAft>
              <a:defRPr sz="1600" b="1">
                <a:solidFill>
                  <a:srgbClr val="0288D1"/>
                </a:solidFill>
              </a:defRPr>
            </a:pPr>
            <a:r>
              <a:t>Quick Actions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[Create Site]  [PHP Settings]  [SSL Cert]  [Config Editor]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Quản Lý Database Toàn Diện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600"/>
              </a:spcBef>
              <a:spcAft>
                <a:spcPts val="800"/>
              </a:spcAft>
              <a:defRPr sz="2000" b="1">
                <a:solidFill>
                  <a:srgbClr val="1565C0"/>
                </a:solidFill>
              </a:defRPr>
            </a:pPr>
            <a:r>
              <a:t>Slide 9: Quản Lý Databases</a:t>
            </a:r>
          </a:p>
          <a:p>
            <a:pPr>
              <a:spcBef>
                <a:spcPts val="1200"/>
              </a:spcBef>
              <a:spcAft>
                <a:spcPts val="400"/>
              </a:spcAft>
              <a:defRPr sz="1600" b="1">
                <a:solidFill>
                  <a:srgbClr val="0288D1"/>
                </a:solidFill>
              </a:defRPr>
            </a:pPr>
            <a:r>
              <a:t>Supported Databases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| Database | Port | Features |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|----------|------|----------|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| MySQL | 3306 | Full support |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| MariaDB | 3306 | Full support |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| Redis | 6379 | Cache management |</a:t>
            </a:r>
          </a:p>
          <a:p>
            <a:pPr>
              <a:spcBef>
                <a:spcPts val="1200"/>
              </a:spcBef>
              <a:spcAft>
                <a:spcPts val="400"/>
              </a:spcAft>
              <a:defRPr sz="1600" b="1">
                <a:solidFill>
                  <a:srgbClr val="0288D1"/>
                </a:solidFill>
              </a:defRPr>
            </a:pPr>
            <a:r>
              <a:t>Database Features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• ✅ **Create/Drop**: Tạo và xóa database nhanh chóng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• ✅ **User Management**: Phân quyền user database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• ✅ **Backup/Restore**: Sao lưu với nhiều destination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• ✅ **phpMyAdmin**: Giao diện web quản lý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• ✅ **Connection Info**: Thông tin kết nối chi tiết</a:t>
            </a:r>
          </a:p>
          <a:p>
            <a:pPr>
              <a:spcBef>
                <a:spcPts val="1200"/>
              </a:spcBef>
              <a:spcAft>
                <a:spcPts val="400"/>
              </a:spcAft>
              <a:defRPr sz="1600" b="1">
                <a:solidFill>
                  <a:srgbClr val="0288D1"/>
                </a:solidFill>
              </a:defRPr>
            </a:pPr>
            <a:r>
              <a:t>Backup Destinations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┌─────────────────────────────────────────────────────────┐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│  📁 FTP Server    │   ☁️ S3/MinIO   │   🔵 Google Drive │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│  📁 OneDrive      │   📁 Local      │   📁 SFTP          │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└─────────────────────────────────────────────────────────┘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File Manager Thông Minh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600"/>
              </a:spcBef>
              <a:spcAft>
                <a:spcPts val="800"/>
              </a:spcAft>
              <a:defRPr sz="2000" b="1">
                <a:solidFill>
                  <a:srgbClr val="1565C0"/>
                </a:solidFill>
              </a:defRPr>
            </a:pPr>
            <a:r>
              <a:t>Slide 10: File Manager &amp; Code Editor</a:t>
            </a:r>
          </a:p>
          <a:p>
            <a:pPr>
              <a:spcBef>
                <a:spcPts val="1200"/>
              </a:spcBef>
              <a:spcAft>
                <a:spcPts val="400"/>
              </a:spcAft>
              <a:defRPr sz="1600" b="1">
                <a:solidFill>
                  <a:srgbClr val="0288D1"/>
                </a:solidFill>
              </a:defRPr>
            </a:pPr>
            <a:r>
              <a:t>Monaco Editor Tích Hợp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• 🔥 **Syntax Highlighting**: Hỗ trợ 50+ ngôn ngữ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• 📂 **File Tree**: Duyệt file với tree view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• 📁 **Compress/Extract**: ZIP, TAR, GZ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• 🔐 **Permission Editor**: Chmod trực quan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• ⭐ **Bookmarks**: Đánh dấu thư mục yêu thích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• 🔍 **Search**: Tìm kiếm file nhanh</a:t>
            </a:r>
          </a:p>
          <a:p>
            <a:pPr>
              <a:spcBef>
                <a:spcPts val="1200"/>
              </a:spcBef>
              <a:spcAft>
                <a:spcPts val="400"/>
              </a:spcAft>
              <a:defRPr sz="1600" b="1">
                <a:solidFill>
                  <a:srgbClr val="0288D1"/>
                </a:solidFill>
              </a:defRPr>
            </a:pPr>
            <a:r>
              <a:t>Supported File Types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Languages: JavaScript, TypeScript, Python, Go, PHP,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Ruby, Java, C++, Rust, HTML, CSS, JSON, YAML...</a:t>
            </a:r>
          </a:p>
          <a:p>
            <a:pPr>
              <a:spcBef>
                <a:spcPts val="1200"/>
              </a:spcBef>
              <a:spcAft>
                <a:spcPts val="400"/>
              </a:spcAft>
              <a:defRPr sz="1600" b="1">
                <a:solidFill>
                  <a:srgbClr val="0288D1"/>
                </a:solidFill>
              </a:defRPr>
            </a:pPr>
            <a:r>
              <a:t>Quick Actions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| Action | Description |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|--------|-------------|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| New File | Tạo file mới |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| Upload | Upload file lên server |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| Download | Tải file về local |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| Compress | Nén file/folder |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| Extract | Giải nén archive |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Terminal Trong Trình Duyệt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600"/>
              </a:spcBef>
              <a:spcAft>
                <a:spcPts val="800"/>
              </a:spcAft>
              <a:defRPr sz="2000" b="1">
                <a:solidFill>
                  <a:srgbClr val="1565C0"/>
                </a:solidFill>
              </a:defRPr>
            </a:pPr>
            <a:r>
              <a:t>Slide 11: WebSocket Terminal</a:t>
            </a:r>
          </a:p>
          <a:p>
            <a:pPr>
              <a:spcBef>
                <a:spcPts val="1200"/>
              </a:spcBef>
              <a:spcAft>
                <a:spcPts val="400"/>
              </a:spcAft>
              <a:defRPr sz="1600" b="1">
                <a:solidFill>
                  <a:srgbClr val="0288D1"/>
                </a:solidFill>
              </a:defRPr>
            </a:pPr>
            <a:r>
              <a:t>Tính Năng Terminal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┌──────────────────────────────────────────────────────────────┐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│  ITDLUPanel Terminal                           [+] [_] [X]   │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│  ──────────────────────────────────────────────────────────  │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│  ┌─────────────────────────────────────────────────────────┐ │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│  │  admin@server:~$ ssh user@server                       │ │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│  │  user@server's password: ********                      │ │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│  │  Welcome to Ubuntu 22.04 LTS                           │ │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│  │  user@server:~$ ls -la                                  │ │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│  │  drwxr-xr-x  5 admin admin  4096 Jun 29 10:00 .       │ │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│  │  drwxr-xr-x 14 admin admin  4096 Jun 29 09:30 ..       │ │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│  └─────────────────────────────────────────────────────────┘ │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│  ──────────────────────────────────────────────────────────  │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│  [Tab 1] [Tab 2] [+]              [Fullscreen] [Theme: Dark] │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└──────────────────────────────────────────────────────────────┘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• 💻 **Full PTY Support**: Terminal đầy đủ chức năng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• 📑 **Multi-Tab**: Nhiều terminal cùng lúc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• 🔲 **Fullscreen**: Chế độ toàn màn hình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• 🎨 **Theme Support**: Light/Dark theme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• 📜 **Scrollback**: Buffer không giới hạn</a:t>
            </a:r>
          </a:p>
          <a:p>
            <a:pPr>
              <a:spcBef>
                <a:spcPts val="1200"/>
              </a:spcBef>
              <a:spcAft>
                <a:spcPts val="400"/>
              </a:spcAft>
              <a:defRPr sz="1600" b="1">
                <a:solidFill>
                  <a:srgbClr val="0288D1"/>
                </a:solidFill>
              </a:defRPr>
            </a:pPr>
            <a:r>
              <a:t>Technology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• **Backend**: gorill/websocket + creack/pty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• **Frontend**: xterm.js với custom themes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Docker Container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600"/>
              </a:spcBef>
              <a:spcAft>
                <a:spcPts val="800"/>
              </a:spcAft>
              <a:defRPr sz="2000" b="1">
                <a:solidFill>
                  <a:srgbClr val="1565C0"/>
                </a:solidFill>
              </a:defRPr>
            </a:pPr>
            <a:r>
              <a:t>Slide 12: Docker Management</a:t>
            </a:r>
          </a:p>
          <a:p>
            <a:pPr>
              <a:spcBef>
                <a:spcPts val="1200"/>
              </a:spcBef>
              <a:spcAft>
                <a:spcPts val="400"/>
              </a:spcAft>
              <a:defRPr sz="1600" b="1">
                <a:solidFill>
                  <a:srgbClr val="0288D1"/>
                </a:solidFill>
              </a:defRPr>
            </a:pPr>
            <a:r>
              <a:t>Container Features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┌─────────────────────────────────────────────────────────┐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│  🐳 Docker Status: Running                               │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│  ┌─────────┐ ┌─────────┐ ┌─────────┐ ┌─────────┐        │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│  │nginx:1.2│ │mysql:8 │ │redis:7 │ │node:20 │        │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│  │ ● RUN   │ │ ● RUN   │ │ ● RUN   │ │ ● RUN   │        │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│  └─────────┘ └─────────┘ └─────────┘ └─────────┘        │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└─────────────────────────────────────────────────────────┘</a:t>
            </a:r>
          </a:p>
          <a:p>
            <a:pPr>
              <a:spcBef>
                <a:spcPts val="1200"/>
              </a:spcBef>
              <a:spcAft>
                <a:spcPts val="400"/>
              </a:spcAft>
              <a:defRPr sz="1600" b="1">
                <a:solidFill>
                  <a:srgbClr val="0288D1"/>
                </a:solidFill>
              </a:defRPr>
            </a:pPr>
            <a:r>
              <a:t>Management Capabilities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| Feature | Description |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|---------|-------------|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| Containers | Start, stop, restart, remove |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| Images | Pull, build, remove images |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| Networks | Create and manage networks |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| Volumes | Persistent storage management |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| Compose | Docker Compose editor &amp; runner |</a:t>
            </a:r>
          </a:p>
          <a:p>
            <a:pPr>
              <a:spcBef>
                <a:spcPts val="1200"/>
              </a:spcBef>
              <a:spcAft>
                <a:spcPts val="400"/>
              </a:spcAft>
              <a:defRPr sz="1600" b="1">
                <a:solidFill>
                  <a:srgbClr val="0288D1"/>
                </a:solidFill>
              </a:defRPr>
            </a:pPr>
            <a:r>
              <a:t>One-Click App Templates (38+)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┌────────────────────────────────────────────────────────┐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│  Popular Templates                                      │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│  ┌──────────┐ ┌──────────┐ ┌──────────┐              │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│  │ WordPress │ │  Nextcloud│ │  GitLab  │              │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│  └──────────┘ └──────────┘ └──────────┘              │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│  ┌──────────┐ ┌──────────┐ ┌──────────┐              │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│  │  Matomo   │ │   Jira   │ │ Prometheus│              │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│  └──────────┘ └──────────┘ └──────────┘              │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└────────────────────────────────────────────────────────┘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Bảo Mật Toàn Diện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600"/>
              </a:spcBef>
              <a:spcAft>
                <a:spcPts val="800"/>
              </a:spcAft>
              <a:defRPr sz="2000" b="1">
                <a:solidFill>
                  <a:srgbClr val="1565C0"/>
                </a:solidFill>
              </a:defRPr>
            </a:pPr>
            <a:r>
              <a:t>Slide 13: Security Features</a:t>
            </a:r>
          </a:p>
          <a:p>
            <a:pPr>
              <a:spcBef>
                <a:spcPts val="1200"/>
              </a:spcBef>
              <a:spcAft>
                <a:spcPts val="400"/>
              </a:spcAft>
              <a:defRPr sz="1600" b="1">
                <a:solidFill>
                  <a:srgbClr val="0288D1"/>
                </a:solidFill>
              </a:defRPr>
            </a:pPr>
            <a:r>
              <a:t>Security Stack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┌─────────────────────────────────────────────────────────┐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│                    Security Layers                        │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│  ┌─────────────────────────────────────────────────────┐ │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│  │  JWT Auth (15min access + 7day refresh token)     │ │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│  │  TOTP 2FA (RFC 6238)                               │ │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│  │  RBAC (Admin/Operator/Viewer)                      │ │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│  │  bcrypt password hashing (cost=12)                 │ │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│  │  CSRF Protection                                    │ │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│  │  Rate Limiting (300 req/min per IP)                │ │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│  │  Audit Logging                                      │ │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│  └─────────────────────────────────────────────────────┘ │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└─────────────────────────────────────────────────────────┘</a:t>
            </a:r>
          </a:p>
          <a:p>
            <a:pPr>
              <a:spcBef>
                <a:spcPts val="1200"/>
              </a:spcBef>
              <a:spcAft>
                <a:spcPts val="400"/>
              </a:spcAft>
              <a:defRPr sz="1600" b="1">
                <a:solidFill>
                  <a:srgbClr val="0288D1"/>
                </a:solidFill>
              </a:defRPr>
            </a:pPr>
            <a:r>
              <a:t>Security Features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| Feature | Description |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|---------|-------------|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| 🔥 Firewall | UFW rules management |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| 🚫 IP Blocking | Block malicious IPs |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| 🛡️ Fail2ban | Auto-ban failed login attempts |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| 🔑 SSH Config | SSH hardening options |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| 📊 Port Monitor | Track open ports |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| 📝 Audit Logs | Log all admin actions |</a:t>
            </a:r>
          </a:p>
          <a:p>
            <a:pPr>
              <a:spcBef>
                <a:spcPts val="1200"/>
              </a:spcBef>
              <a:spcAft>
                <a:spcPts val="400"/>
              </a:spcAft>
              <a:defRPr sz="1600" b="1">
                <a:solidFill>
                  <a:srgbClr val="0288D1"/>
                </a:solidFill>
              </a:defRPr>
            </a:pPr>
            <a:r>
              <a:t>RBAC Roles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| Role | Permissions |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|------|------------|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| Admin | Full access |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| Operator | Manage services, no user management |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| Viewer | Read-only access |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Quản Lý SSL Certificate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600"/>
              </a:spcBef>
              <a:spcAft>
                <a:spcPts val="800"/>
              </a:spcAft>
              <a:defRPr sz="2000" b="1">
                <a:solidFill>
                  <a:srgbClr val="1565C0"/>
                </a:solidFill>
              </a:defRPr>
            </a:pPr>
            <a:r>
              <a:t>Slide 14: SSL Certificates</a:t>
            </a:r>
          </a:p>
          <a:p>
            <a:pPr>
              <a:spcBef>
                <a:spcPts val="1200"/>
              </a:spcBef>
              <a:spcAft>
                <a:spcPts val="400"/>
              </a:spcAft>
              <a:defRPr sz="1600" b="1">
                <a:solidFill>
                  <a:srgbClr val="0288D1"/>
                </a:solidFill>
              </a:defRPr>
            </a:pPr>
            <a:r>
              <a:t>SSL Features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┌─────────────────────────────────────────────────────────┐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│  🔒 SSL Certificate Manager                              │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│  ┌─────────────────────────────────────────────────────┐ │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│  │  Domain: example.com                                │ │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│  │  Provider: Let's Encrypt                            │ │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│  │  Valid Until: 2026-09-29                            │ │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│  │  Auto-Renewal: ✅ Enabled                           │ │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│  │  [View] [Renew] [Download] [Delete]                │ │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│  └─────────────────────────────────────────────────────┘ │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└─────────────────────────────────────────────────────────┘</a:t>
            </a:r>
          </a:p>
          <a:p>
            <a:pPr>
              <a:spcBef>
                <a:spcPts val="1200"/>
              </a:spcBef>
              <a:spcAft>
                <a:spcPts val="400"/>
              </a:spcAft>
              <a:defRPr sz="1600" b="1">
                <a:solidFill>
                  <a:srgbClr val="0288D1"/>
                </a:solidFill>
              </a:defRPr>
            </a:pPr>
            <a:r>
              <a:t>Certificate Options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| Type | Description |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|------|-------------|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| Let's Encrypt | Free auto-renewal SSL |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| Self-Signed | For internal/testing |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| Custom | Upload your own cert |</a:t>
            </a:r>
          </a:p>
          <a:p>
            <a:pPr>
              <a:spcBef>
                <a:spcPts val="1200"/>
              </a:spcBef>
              <a:spcAft>
                <a:spcPts val="400"/>
              </a:spcAft>
              <a:defRPr sz="1600" b="1">
                <a:solidFill>
                  <a:srgbClr val="0288D1"/>
                </a:solidFill>
              </a:defRPr>
            </a:pPr>
            <a:r>
              <a:t>Features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• ✅ **Auto-Issue**: Tự động cấp phát certificate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• ✅ **Auto-Renewal**: Gia hạn tự động trước 30 ngày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• ✅ **Wildcard Support**: Hỗ trợ wildcard certificates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• ✅ **Multi-Domain**: Nhiều domain trong 1 cert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Backup &amp; Cloud Storage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600"/>
              </a:spcBef>
              <a:spcAft>
                <a:spcPts val="800"/>
              </a:spcAft>
              <a:defRPr sz="2000" b="1">
                <a:solidFill>
                  <a:srgbClr val="1565C0"/>
                </a:solidFill>
              </a:defRPr>
            </a:pPr>
            <a:r>
              <a:t>Slide 15: Backup &amp; Storage</a:t>
            </a:r>
          </a:p>
          <a:p>
            <a:pPr>
              <a:spcBef>
                <a:spcPts val="1200"/>
              </a:spcBef>
              <a:spcAft>
                <a:spcPts val="400"/>
              </a:spcAft>
              <a:defRPr sz="1600" b="1">
                <a:solidFill>
                  <a:srgbClr val="0288D1"/>
                </a:solidFill>
              </a:defRPr>
            </a:pPr>
            <a:r>
              <a:t>Supported Storage Backends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┌─────────────────────────────────────────────────────────┐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│  ☁️ Cloud Storage Options                              │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│                                                         │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│  ┌─────────────┐  ┌─────────────┐  ┌─────────────┐    │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│  │  Amazon S3  │  │  Google     │  │  OneDrive   │    │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│  │   (AWS)     │  │   Drive     │  │  (Microsoft)│    │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│  └─────────────┘  └─────────────┘  └─────────────┘    │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│                                                         │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│  ┌─────────────┐  ┌─────────────┐  ┌─────────────┐    │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│  │   MinIO     │  │   FTP/SFTP  │  │   Local     │    │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│  │  (S3-like)  │  │   Server    │  │   Storage   │    │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│  └─────────────┘  └─────────────┘  └─────────────┘    │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└─────────────────────────────────────────────────────────┘</a:t>
            </a:r>
          </a:p>
          <a:p>
            <a:pPr>
              <a:spcBef>
                <a:spcPts val="1200"/>
              </a:spcBef>
              <a:spcAft>
                <a:spcPts val="400"/>
              </a:spcAft>
              <a:defRPr sz="1600" b="1">
                <a:solidFill>
                  <a:srgbClr val="0288D1"/>
                </a:solidFill>
              </a:defRPr>
            </a:pPr>
            <a:r>
              <a:t>Backup Features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• ✅ **Scheduled Backups**: Đặt lịch backup tự động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• ✅ **Incremental Backup**: Chỉ backup thay đổi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• ✅ **Compression**: Nén gzip/tar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• ✅ **Encryption**: Mã hóa backup files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• ✅ **Retention Policy**: Xóa backup cũ tự động</a:t>
            </a:r>
          </a:p>
          <a:p>
            <a:pPr>
              <a:spcBef>
                <a:spcPts val="1200"/>
              </a:spcBef>
              <a:spcAft>
                <a:spcPts val="400"/>
              </a:spcAft>
              <a:defRPr sz="1600" b="1">
                <a:solidFill>
                  <a:srgbClr val="0288D1"/>
                </a:solidFill>
              </a:defRPr>
            </a:pPr>
            <a:r>
              <a:t>OAuth2 Integration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• Google Drive via OAuth2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• OneDrive via OAuth2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• S3/MinIO via Access Keys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Đa Ngôn Ngữ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600"/>
              </a:spcBef>
              <a:spcAft>
                <a:spcPts val="800"/>
              </a:spcAft>
              <a:defRPr sz="2000" b="1">
                <a:solidFill>
                  <a:srgbClr val="1565C0"/>
                </a:solidFill>
              </a:defRPr>
            </a:pPr>
            <a:r>
              <a:t>Slide 16: Internationalization</a:t>
            </a:r>
          </a:p>
          <a:p>
            <a:pPr>
              <a:spcBef>
                <a:spcPts val="1200"/>
              </a:spcBef>
              <a:spcAft>
                <a:spcPts val="400"/>
              </a:spcAft>
              <a:defRPr sz="1600" b="1">
                <a:solidFill>
                  <a:srgbClr val="0288D1"/>
                </a:solidFill>
              </a:defRPr>
            </a:pPr>
            <a:r>
              <a:t>Supported Languages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┌─────────────────────────────────────────────────────────┐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│  🌍 Language Support                                    │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│                                                         │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│  ┌─────────────┐              ┌─────────────┐         │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│  │ 🇺🇸 English  │              │ 🇻🇳 Tiếng Việt│         │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│  │   (EN)      │              │    (VI)     │         │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│  └─────────────┘              └─────────────┘         │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│                                                         │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└─────────────────────────────────────────────────────────┘</a:t>
            </a:r>
          </a:p>
          <a:p>
            <a:pPr>
              <a:spcBef>
                <a:spcPts val="1200"/>
              </a:spcBef>
              <a:spcAft>
                <a:spcPts val="400"/>
              </a:spcAft>
              <a:defRPr sz="1600" b="1">
                <a:solidFill>
                  <a:srgbClr val="0288D1"/>
                </a:solidFill>
              </a:defRPr>
            </a:pPr>
            <a:r>
              <a:t>i18n Coverage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| Component | Coverage |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|-----------|----------|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| Backend API Messages | 100% |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| Frontend UI | 100% |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| Error Messages | 100% |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| Documentation | EN + VI |</a:t>
            </a:r>
          </a:p>
          <a:p>
            <a:pPr>
              <a:spcBef>
                <a:spcPts val="1200"/>
              </a:spcBef>
              <a:spcAft>
                <a:spcPts val="400"/>
              </a:spcAft>
              <a:defRPr sz="1600" b="1">
                <a:solidFill>
                  <a:srgbClr val="0288D1"/>
                </a:solidFill>
              </a:defRPr>
            </a:pPr>
            <a:r>
              <a:t>Implementation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• **Frontend**: i18next với react-i18next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• **Backend**: Custom i18n package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• **Dynamic Switching**: Đổi ngôn ngữ không cần reload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Dự Án Bằng Con Số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600"/>
              </a:spcBef>
              <a:spcAft>
                <a:spcPts val="800"/>
              </a:spcAft>
              <a:defRPr sz="2000" b="1">
                <a:solidFill>
                  <a:srgbClr val="1565C0"/>
                </a:solidFill>
              </a:defRPr>
            </a:pPr>
            <a:r>
              <a:t>Slide 17: Code Statistics</a:t>
            </a:r>
          </a:p>
          <a:p>
            <a:pPr>
              <a:spcBef>
                <a:spcPts val="1200"/>
              </a:spcBef>
              <a:spcAft>
                <a:spcPts val="400"/>
              </a:spcAft>
              <a:defRPr sz="1600" b="1">
                <a:solidFill>
                  <a:srgbClr val="0288D1"/>
                </a:solidFill>
              </a:defRPr>
            </a:pPr>
            <a:r>
              <a:t>Codebase Metrics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| Metric | Count |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|--------|-------|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| Go files | 112 files • 43,314 LOC |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| TypeScript files | 93 files |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| API endpoints | ~160 REST + 2 WebSocket |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| Database tables | 25 |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| Docker templates | 38 one-click apps |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| Cron templates | 30 pre-built |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| Software installers | 14 |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| Frontend pages | 17 (lazy-loaded) |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| Shared components | 15 |</a:t>
            </a:r>
          </a:p>
          <a:p>
            <a:pPr>
              <a:spcBef>
                <a:spcPts val="1200"/>
              </a:spcBef>
              <a:spcAft>
                <a:spcPts val="400"/>
              </a:spcAft>
              <a:defRPr sz="1600" b="1">
                <a:solidFill>
                  <a:srgbClr val="0288D1"/>
                </a:solidFill>
              </a:defRPr>
            </a:pPr>
            <a:r>
              <a:t>Backend Architecture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Middleware Stack: 11 layers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API Handlers: 24 files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Services: 33+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Installers: 14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Vhost Generators: 4 (Nginx, Apache, OLS, Node)</a:t>
            </a:r>
          </a:p>
          <a:p>
            <a:pPr>
              <a:spcBef>
                <a:spcPts val="1200"/>
              </a:spcBef>
              <a:spcAft>
                <a:spcPts val="400"/>
              </a:spcAft>
              <a:defRPr sz="1600" b="1">
                <a:solidFill>
                  <a:srgbClr val="0288D1"/>
                </a:solidFill>
              </a:defRPr>
            </a:pPr>
            <a:r>
              <a:t>Frontend Architecture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Pages: 17 (all lazy-loaded)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Components: 15 shared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Zustand Stores: 5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Custom Hooks: 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Triển Khai Dễ Dàng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600"/>
              </a:spcBef>
              <a:spcAft>
                <a:spcPts val="800"/>
              </a:spcAft>
              <a:defRPr sz="2000" b="1">
                <a:solidFill>
                  <a:srgbClr val="1565C0"/>
                </a:solidFill>
              </a:defRPr>
            </a:pPr>
            <a:r>
              <a:t>Slide 18: Deployment</a:t>
            </a:r>
          </a:p>
          <a:p>
            <a:pPr>
              <a:spcBef>
                <a:spcPts val="1200"/>
              </a:spcBef>
              <a:spcAft>
                <a:spcPts val="400"/>
              </a:spcAft>
              <a:defRPr sz="1600" b="1">
                <a:solidFill>
                  <a:srgbClr val="0288D1"/>
                </a:solidFill>
              </a:defRPr>
            </a:pPr>
            <a:r>
              <a:t>Quick Start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cd web &amp;&amp; npm install &amp;&amp; npx vite build &amp;&amp; cd ..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make build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cp config/panel.json.example config/panel.json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vim config/panel.json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./bin/itdlupanel -config config/panel.json</a:t>
            </a:r>
          </a:p>
          <a:p>
            <a:pPr>
              <a:spcBef>
                <a:spcPts val="1200"/>
              </a:spcBef>
              <a:spcAft>
                <a:spcPts val="400"/>
              </a:spcAft>
              <a:defRPr sz="1600" b="1">
                <a:solidFill>
                  <a:srgbClr val="0288D1"/>
                </a:solidFill>
              </a:defRPr>
            </a:pPr>
            <a:r>
              <a:t>Default Credentials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| Field | Value |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|-------|-------|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| Username | admin |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| Password | admin@123456 |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| Default Port | 8888 |</a:t>
            </a:r>
          </a:p>
          <a:p>
            <a:pPr>
              <a:spcBef>
                <a:spcPts val="1200"/>
              </a:spcBef>
              <a:spcAft>
                <a:spcPts val="400"/>
              </a:spcAft>
              <a:defRPr sz="1600" b="1">
                <a:solidFill>
                  <a:srgbClr val="0288D1"/>
                </a:solidFill>
              </a:defRPr>
            </a:pPr>
            <a:r>
              <a:t>System Requirements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| Resource | Minimum | Recommended |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|----------|---------|-------------|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| RAM | 1 GB | 2 GB |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| CPU | 1 core | 2+ cores |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| Disk | 5 GB | 20 GB |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| OS | Ubuntu 18.04+ | Ubuntu 22.04 LTS |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Lộ Trình Phát Triển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600"/>
              </a:spcBef>
              <a:spcAft>
                <a:spcPts val="800"/>
              </a:spcAft>
              <a:defRPr sz="2000" b="1">
                <a:solidFill>
                  <a:srgbClr val="1565C0"/>
                </a:solidFill>
              </a:defRPr>
            </a:pPr>
            <a:r>
              <a:t>Slide 19: Roadmap</a:t>
            </a:r>
          </a:p>
          <a:p>
            <a:pPr>
              <a:spcBef>
                <a:spcPts val="1200"/>
              </a:spcBef>
              <a:spcAft>
                <a:spcPts val="400"/>
              </a:spcAft>
              <a:defRPr sz="1600" b="1">
                <a:solidFill>
                  <a:srgbClr val="0288D1"/>
                </a:solidFill>
              </a:defRPr>
            </a:pPr>
            <a:r>
              <a:t>Phase 1: ✅ Completed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• [x] Core panel functionality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• [x] Docker management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• [x] WebSocket terminal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• [x] SSL certificates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• [x] Multi-language support</a:t>
            </a:r>
          </a:p>
          <a:p>
            <a:pPr>
              <a:spcBef>
                <a:spcPts val="1200"/>
              </a:spcBef>
              <a:spcAft>
                <a:spcPts val="400"/>
              </a:spcAft>
              <a:defRPr sz="1600" b="1">
                <a:solidFill>
                  <a:srgbClr val="0288D1"/>
                </a:solidFill>
              </a:defRPr>
            </a:pPr>
            <a:r>
              <a:t>Phase 2: 🚧 In Progress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• [ ] Kubernetes cluster management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• [ ] Advanced monitoring (Prometheus/Grafana)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• [ ] Plugin marketplace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• [ ] API documentation (OpenAPI)</a:t>
            </a:r>
          </a:p>
          <a:p>
            <a:pPr>
              <a:spcBef>
                <a:spcPts val="1200"/>
              </a:spcBef>
              <a:spcAft>
                <a:spcPts val="400"/>
              </a:spcAft>
              <a:defRPr sz="1600" b="1">
                <a:solidFill>
                  <a:srgbClr val="0288D1"/>
                </a:solidFill>
              </a:defRPr>
            </a:pPr>
            <a:r>
              <a:t>Phase 3: 📋 Planned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• [ ] Multi-server management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• [ ] Mobile app (React Native)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• [ ] AI-powered suggestions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• [ ] GitOps integration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Cảm Ơn!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600"/>
              </a:spcBef>
              <a:spcAft>
                <a:spcPts val="800"/>
              </a:spcAft>
              <a:defRPr sz="2000" b="1">
                <a:solidFill>
                  <a:srgbClr val="1565C0"/>
                </a:solidFill>
              </a:defRPr>
            </a:pPr>
            <a:r>
              <a:t>Slide 20: Kết Luận</a:t>
            </a:r>
          </a:p>
          <a:p>
            <a:pPr>
              <a:spcBef>
                <a:spcPts val="1600"/>
              </a:spcBef>
              <a:spcAft>
                <a:spcPts val="800"/>
              </a:spcAft>
              <a:defRPr sz="2000" b="1">
                <a:solidFill>
                  <a:srgbClr val="1565C0"/>
                </a:solidFill>
              </a:defRPr>
            </a:pPr>
            <a:r>
              <a:t>ITDLUPanel</a:t>
            </a:r>
          </a:p>
          <a:p>
            <a:pPr>
              <a:spcBef>
                <a:spcPts val="1200"/>
              </a:spcBef>
              <a:spcAft>
                <a:spcPts val="400"/>
              </a:spcAft>
              <a:defRPr sz="1600" b="1">
                <a:solidFill>
                  <a:srgbClr val="0288D1"/>
                </a:solidFill>
              </a:defRPr>
            </a:pPr>
            <a:r>
              <a:t>Contact &amp; Support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• 🌐 **Website**: https://github.com/itdlu/ITDLUPanel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• 📧 **Email**: support@itdlu.edu.vn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• 📖 **Docs**: https://docs.itdlu.edu.vn</a:t>
            </a:r>
          </a:p>
          <a:p>
            <a:pPr>
              <a:spcBef>
                <a:spcPts val="1200"/>
              </a:spcBef>
              <a:spcAft>
                <a:spcPts val="400"/>
              </a:spcAft>
              <a:defRPr sz="1600" b="1">
                <a:solidFill>
                  <a:srgbClr val="0288D1"/>
                </a:solidFill>
              </a:defRPr>
            </a:pPr>
            <a:r>
              <a:t>Key Takeaways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┌─────────────────────────────────────────────────────────┐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│  ✓ Single Binary Deployment                             │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│  ✓ Zero External Dependencies                          │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│  ✓ Production-Ready Security (JWT, 2FA, RBAC)          │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│  ✓ Docker &amp; Cloud Storage Integration                  │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│  ✓ Real-time WebSocket Terminal                        │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│  ✓ EN/VI Language Support                              │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│  ✓ MIT License - Completely Free                       │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└─────────────────────────────────────────────────────────┘</a:t>
            </a:r>
          </a:p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© 2026 Đại học Đà Lạt (Dalat University)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400"/>
              </a:spcBef>
              <a:defRPr sz="1400">
                <a:solidFill>
                  <a:srgbClr val="1A1A2E"/>
                </a:solidFill>
              </a:defRPr>
            </a:pPr>
            <a:r>
              <a:t>Generated by ITDLUPanel Documentation System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